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4213D"/>
                </a:solidFill>
                <a:latin typeface="Calibri"/>
              </a:rPr>
              <a:t>Year-1 cost to meet Dentsu's requirements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licence (12-mo Indonesia)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$#,##0;;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HypeAuditor ($205,000)</c:v>
                  </c:pt>
                  <c:pt idx="1">
                    <c:v>Viral Pitch ($35,988)</c:v>
                  </c:pt>
                  <c:pt idx="2">
                    <c:v>CultureX ($54,000)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55000</c:v>
                </c:pt>
                <c:pt idx="1">
                  <c:v>35988</c:v>
                </c:pt>
                <c:pt idx="2">
                  <c:v>54000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Add-on: TikTok competitor analysis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$#,##0;;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HypeAuditor ($205,000)</c:v>
                  </c:pt>
                  <c:pt idx="1">
                    <c:v>Viral Pitch ($35,988)</c:v>
                  </c:pt>
                  <c:pt idx="2">
                    <c:v>CultureX ($54,000)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150000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$#,##0;;;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D293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Compares the incumbent (HypeAuditor) with two challengers (Viral Pitch, CultureX). Full detail and editable assumptions are in the companion Excel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Verdict rule: 3 or more High-severity limitations = not enough for enterprise as quoted; 1–2 = capable with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DENTSU INFLUENCE INDONESIA  ·  PLATFORM 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 Intelligence Platforms: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Options Compare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063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HypeAuditor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306324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23160" y="3063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Pitch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306324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B5892B"/>
          </a:solidFill>
          <a:ln w="12700">
            <a:solidFill>
              <a:srgbClr val="B58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3063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fit against Dentsu's 12 requirements, and enterprise-scale limitations  ·  30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Viral Pitch: lowest price, fewest limits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457200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HypeAuditor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Incumbent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556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licence · 12-mo Indonesia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568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cost: </a:t>
            </a:r>
            <a:pPr indent="0" marL="0">
              <a:buNone/>
            </a:pPr>
            <a:r>
              <a:rPr lang="en-US" sz="10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$205,000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(incl. $150k TikTok build)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12 Dentsu requirements fully met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00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competitor analysis, 15–20 brands and keyword tracking all need paid custom development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4160520"/>
            <a:ext cx="2331720" cy="274320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for enterprise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188720"/>
            <a:ext cx="2606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188720"/>
            <a:ext cx="2606040" cy="45720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1188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Pitch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Challenger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17556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licence · 12-mo Indonesia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19568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$35,988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4688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cost: </a:t>
            </a:r>
            <a:pPr indent="0" marL="0">
              <a:buNone/>
            </a:pPr>
            <a:r>
              <a:rPr lang="en-US" sz="1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$35,988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 add-ons quoted)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12 Dentsu requirements fully met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200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volumes unlimited; watch 15,000 profiles / yr, 8 logins, and 5 of 6 prices still pending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331720" cy="274320"/>
          </a:xfrm>
          <a:prstGeom prst="roundRect">
            <a:avLst>
              <a:gd name="adj" fmla="val 50000"/>
            </a:avLst>
          </a:prstGeom>
          <a:solidFill>
            <a:srgbClr val="FFEB9C"/>
          </a:solidFill>
          <a:ln w="12700">
            <a:solidFill>
              <a:srgbClr val="FFEB9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Enterprise-capable, with conditions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1188720"/>
            <a:ext cx="2606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188720"/>
            <a:ext cx="2606040" cy="457200"/>
          </a:xfrm>
          <a:prstGeom prst="rect">
            <a:avLst/>
          </a:prstGeom>
          <a:solidFill>
            <a:srgbClr val="B5892B"/>
          </a:solidFill>
          <a:ln w="12700">
            <a:solidFill>
              <a:srgbClr val="B58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1188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CultureX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Challenger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17556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licence · 12-mo Indonesia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19568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$54,000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24688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cost: </a:t>
            </a:r>
            <a:pPr indent="0" marL="0">
              <a:buNone/>
            </a:pPr>
            <a:r>
              <a:rPr lang="en-US" sz="1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$54,000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 add-ons quoted)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12 Dentsu requirements fully met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200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options priced, but hard caps: 200 campaigns / yr, 3,000 posts / month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4160520"/>
            <a:ext cx="2331720" cy="274320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for enterprise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in USD excl. tax. HypeAuditor baseline of $55k / yr as provided; add-on quotes from HypeAuditor's responses to Dentsu's feedback.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Year-1 cost: HypeAuditor is 5.7× Viral Pitch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16636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contract value, 6 RFP options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371600"/>
          <a:ext cx="3520440" cy="914400"/>
        </p:xfrm>
        <a:graphic>
          <a:graphicData uri="http://schemas.openxmlformats.org/drawingml/2006/table">
            <a:tbl>
              <a:tblPr/>
              <a:tblGrid>
                <a:gridCol w="228600"/>
                <a:gridCol w="914400"/>
                <a:gridCol w="731520"/>
                <a:gridCol w="73152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 Pitch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B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8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HypeAuditor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77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6-mo pilot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$33,750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ID+TH 6-mo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$44,888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12-mo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$35,988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ID+TH 12-mo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$71,820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24-mo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$91,800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ID+TH 24-mo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$122,094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166360" y="342900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(Option 3): </a:t>
            </a:r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CultureX is 50% more than Viral Pitch (+$18,012 / yr) and HypeAuditor 53% more (+$19,012).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CultureX has priced all 6 options. Viral Pitch's other 5 and HypeAuditor's 15–20-brand and keyword add-ons are still unpriced.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excl. tax. CultureX: 100% advance (6/12-mo), annual tranches (24-mo). HypeAuditor also quotes $36,000 / yr for each year of history beyond 2 years.</a:t>
            </a:r>
            <a:endParaRPr lang="en-US" sz="75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AGAINST DENTSU'S REQUIREMENTS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Viral Pitch covers the most of Dentsu's 12 gaps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4343400"/>
                <a:gridCol w="1188720"/>
                <a:gridCol w="1188720"/>
                <a:gridCol w="1188720"/>
              </a:tblGrid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(from Dentsu's HypeAuditor feedback)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HypeAuditor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7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 Pitch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B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892B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Cross-platform competitor analysis (TikTok, YouTube, X, Threads)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metrics: CPV, CTR, VTR, CPE (manual cost input)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15–20+ competitor brands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2 years of historical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Comment-level sentiment transparency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 competitor intelligence (SOV, comparisons, exports)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&amp; Boolean keyword tracking (not just hashtags)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&amp; saves metrics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data for static posts (e.g. est. impressions)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campaign management workflow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 Spark Ads / Ads integration &amp; conversion tracking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listening &amp; competitive intelligence depth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 / 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HypeAuditor ratings reflect its own responses. 'Not confirmed' = not mentioned in the vendor's document; ask before deciding. Evidence per cell is in the workbook.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ENTERPRISE-SCALE LIMITS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CultureX falls short on 7 of 12 volume checks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68680"/>
                <a:gridCol w="960120"/>
                <a:gridCol w="960120"/>
                <a:gridCol w="960120"/>
              </a:tblGrid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need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HypeAuditor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7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 Pitch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B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892B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creator profiles / 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shown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campaigns / 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/ campaign reports / 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analysis / month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analysis / month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offered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brands per comparison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reports / 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Hashtags tracked at the same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accounts monitored at the same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Creators held in CRM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user logins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shown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of historical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4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'Not enough'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1430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6EFCE"/>
          </a:solidFill>
          <a:ln w="12700">
            <a:solidFill>
              <a:srgbClr val="C6EFC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4652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need (25% headroom on usage caps)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46520" y="16002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is below the enterprise need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46520" y="20574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not stated by the vendor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5603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flags say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CultureX: 200 campaigns / yr and 3,000 posts / month fall well short at enterprise volume.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Pitch: 15,000 profiles / yr covers 83% of need; 8 logins is tight for an ID + TH team.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HypeAuditor: 5-brand comparisons; volumes mostly undisclosed.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need uses editable assumptions (e.g. 300 campaigns / yr, 30 clients, 150 monitored accounts, top-100 comments per post). Change them in the workbook's 'Limitations &amp; Enterprise Fit' tab.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Blocking issues at enterprise 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365760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430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HypeAuditor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7393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7739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45920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competitor analysis = $150,000 custom build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34086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23408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212848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brands per comparison; 15–20 is unpriced custom work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90779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29077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779776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keyword / Boolean tracking (unpriced custom work)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4747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" y="347472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346704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to expose comment-level sentiment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40416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EB9C"/>
          </a:solidFill>
          <a:ln w="12700">
            <a:solidFill>
              <a:srgbClr val="FFEB9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40416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913632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/ saves manual only; static impressions not until Q4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1143000"/>
            <a:ext cx="2606040" cy="36576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55848" y="11430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Pitch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46120" y="1645920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9272" y="177393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19272" y="17739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977640" y="1645920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team logins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2212848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9272" y="234086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19272" y="23408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3977640" y="2212848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RFP price options still pending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46120" y="2779776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19272" y="290779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EB9C"/>
          </a:solidFill>
          <a:ln w="12700">
            <a:solidFill>
              <a:srgbClr val="FFEB9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319272" y="29077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3977640" y="2779776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advanced influencer profiles / year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46120" y="3346704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19272" y="34747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EB9C"/>
          </a:solidFill>
          <a:ln w="12700">
            <a:solidFill>
              <a:srgbClr val="FFEB9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319272" y="347472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3977640" y="3346704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comments / month; fair-usage limits undefined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46120" y="3913632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19272" y="40416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EB9C"/>
          </a:solidFill>
          <a:ln w="12700">
            <a:solidFill>
              <a:srgbClr val="FFEB9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319272" y="40416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3977640" y="3913632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Threads limited; brand suitability not available yet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35040" y="1143000"/>
            <a:ext cx="2606040" cy="365760"/>
          </a:xfrm>
          <a:prstGeom prst="rect">
            <a:avLst/>
          </a:prstGeom>
          <a:solidFill>
            <a:srgbClr val="B5892B"/>
          </a:solidFill>
          <a:ln w="12700">
            <a:solidFill>
              <a:srgbClr val="B5892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44768" y="11430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CultureX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035040" y="1645920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08192" y="177393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08192" y="17739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6766560" y="1645920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live campaigns &amp; 200 ROI reports / year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35040" y="2212848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08192" y="234086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108192" y="23408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6766560" y="2212848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posts &amp; 10,000 comments / month (pooled)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35040" y="2779776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08192" y="290779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108192" y="29077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6766560" y="2779776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hashtags at once; CRM capped at 10,000 creators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035040" y="3346704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08192" y="34747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C7CE"/>
          </a:solidFill>
          <a:ln w="12700">
            <a:solidFill>
              <a:srgbClr val="FFC7C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108192" y="347472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6766560" y="3346704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email, WhatsApp &amp; Media Plans shown as '–'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35040" y="3913632"/>
            <a:ext cx="2606040" cy="49377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08192" y="40416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EB9C"/>
          </a:solidFill>
          <a:ln w="12700">
            <a:solidFill>
              <a:srgbClr val="FFEB9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108192" y="40416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6766560" y="3913632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usage review can trigger a plan amendment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register (28 items with sources) is in the workbook. Capacity severities recalculate from the usage assumptions.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Viral Pitch forward, with conditions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63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Pitch: lead option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373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($35,988 / yr), most requirements met, fewest volume limits. Before signing, ask for: more than 8 logins, a higher cap on the 15,000 profiles / yr, written fair-usage thresholds, and firm prices for the other 5 options.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23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CultureX: fallback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974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Clearest commercial terms and the only full 6-option quote. Needs its campaign, report, post and comment caps raised, and outreach modules added, to reach enterprise scale.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83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HypeAuditor: don't renew as is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6576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cost is $205,000+ once the TikTok gap is closed, with more custom work unpriced. Use its quotes as a benchmark in the renewal negotiation.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run side-by-side demos of Viral Pitch and CultureX on the same Indonesian brand, and confirm the 'Not confirmed' items in writing.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Influencer Platform Comparison</dc:title>
  <dc:subject>PptxGenJS Presentation</dc:subject>
  <dc:creator>PptxGenJS</dc:creator>
  <cp:lastModifiedBy>PptxGenJS</cp:lastModifiedBy>
  <cp:revision>1</cp:revision>
  <dcterms:created xsi:type="dcterms:W3CDTF">2026-09-30T07:26:40Z</dcterms:created>
  <dcterms:modified xsi:type="dcterms:W3CDTF">2026-09-30T07:26:40Z</dcterms:modified>
</cp:coreProperties>
</file>